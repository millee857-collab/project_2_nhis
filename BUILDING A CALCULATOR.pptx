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959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1168400"/>
            <a:ext cx="9194800" cy="568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0"/>
            <a:ext cx="6800850" cy="539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04540" y="2952750"/>
            <a:ext cx="5342890" cy="33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BUILDING</a:t>
            </a:r>
            <a:r>
              <a:rPr spc="-100" sz="3600">
                <a:solidFill>
                  <a:srgbClr val="1F2C8F"/>
                </a:solidFill>
                <a:latin typeface="Roboto Regular"/>
              </a:rPr>
              <a:t> A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50" y="3397250"/>
            <a:ext cx="2882900" cy="346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3397250"/>
            <a:ext cx="2870200" cy="346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0" y="0"/>
            <a:ext cx="2876550" cy="3467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0"/>
            <a:ext cx="2870200" cy="3467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050" y="4572000"/>
            <a:ext cx="774700" cy="77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20450" y="594360"/>
            <a:ext cx="1143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60" y="2123440"/>
            <a:ext cx="2519679" cy="33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IN THIS 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760" y="2874010"/>
            <a:ext cx="2600960" cy="293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1.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About the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760" y="3216910"/>
            <a:ext cx="2109470" cy="231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2.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the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760" y="3559810"/>
            <a:ext cx="23304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3.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It’s Uniqueness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760" y="3902710"/>
            <a:ext cx="2212340" cy="231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4.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Libraries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760" y="4245610"/>
            <a:ext cx="177546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5.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760" y="4584700"/>
            <a:ext cx="1798320" cy="234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6.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0900"/>
            <a:ext cx="12192000" cy="3467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23850"/>
            <a:ext cx="11296650" cy="601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83845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8700" y="0"/>
            <a:ext cx="1003300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3150" y="577850"/>
            <a:ext cx="774700" cy="77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42840" y="647700"/>
            <a:ext cx="4504690" cy="332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ABOUT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240" y="1625600"/>
            <a:ext cx="4258310" cy="293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The calculator project helped in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5240" y="1987550"/>
            <a:ext cx="461264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understanding how graphical user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5240" y="2334260"/>
            <a:ext cx="4949190" cy="3136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interfaces (GUI) are developed using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240" y="2711450"/>
            <a:ext cx="5234940" cy="293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Python programming. This project 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5240" y="3020060"/>
            <a:ext cx="4615180" cy="356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designed as a scientific 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240" y="3435350"/>
            <a:ext cx="3892550" cy="232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with advanced mathematical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240" y="3797300"/>
            <a:ext cx="5214620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operations. It enhanced my knowledge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5240" y="4159250"/>
            <a:ext cx="4850130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about Python libraries and how real-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5240" y="4521200"/>
            <a:ext cx="5106670" cy="290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world applications like calculators are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240" y="4883150"/>
            <a:ext cx="506603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created using programming logic and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5240" y="5253990"/>
            <a:ext cx="2272030" cy="281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GUI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467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19100"/>
            <a:ext cx="11296650" cy="601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450" y="3759200"/>
            <a:ext cx="2813050" cy="3098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54400"/>
            <a:ext cx="431800" cy="339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800100"/>
            <a:ext cx="3770629" cy="332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THE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540" y="1692910"/>
            <a:ext cx="3794760" cy="2895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This calculator is developed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540" y="2051050"/>
            <a:ext cx="413004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using Tkinter library of Python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540" y="2416810"/>
            <a:ext cx="313055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which helps in creating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540" y="2774950"/>
            <a:ext cx="3286760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graphical user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540" y="3136900"/>
            <a:ext cx="3362960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It can perform arithmetic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540" y="3502660"/>
            <a:ext cx="321437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operations like addition,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540" y="3864610"/>
            <a:ext cx="409956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subtraction, multiplication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660" y="4216400"/>
            <a:ext cx="1907539" cy="231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1F2C8F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1F2C8F"/>
                </a:solidFill>
                <a:latin typeface="Roboto Regular"/>
              </a:rPr>
              <a:t>Second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540" y="4588510"/>
            <a:ext cx="427990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Along with that, it also supports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540" y="4895850"/>
            <a:ext cx="4004310" cy="356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scientific operations like sine,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540" y="5312410"/>
            <a:ext cx="407797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cosine, tangent, logarithm and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540" y="5670550"/>
            <a:ext cx="2373630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Roboto Regular"/>
              </a:rPr>
              <a:t>square functions.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650" y="438150"/>
            <a:ext cx="5588000" cy="641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4254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5463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" y="4305300"/>
            <a:ext cx="2546350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05300"/>
            <a:ext cx="2533650" cy="2552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0" y="0"/>
            <a:ext cx="2559050" cy="2552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20450" y="596900"/>
            <a:ext cx="1143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150" y="952500"/>
            <a:ext cx="3890009" cy="383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UNIQUE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150" y="1731010"/>
            <a:ext cx="7702550" cy="293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This calculator is unique because it is not just a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850" y="2038350"/>
            <a:ext cx="6828790" cy="356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calculator but also works as a scientific calculator.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150" y="2578100"/>
            <a:ext cx="7588250" cy="290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It provides real time calculation with interactive button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850" y="2940050"/>
            <a:ext cx="895350" cy="293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layout.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150" y="3422650"/>
            <a:ext cx="6607809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It includes trigonometric functions, logarithmic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850" y="3784600"/>
            <a:ext cx="4585970" cy="293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calculations and power functions.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150" y="4271010"/>
            <a:ext cx="6904990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The graphical user interface makes it easy to use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34607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3050" cy="254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79450" cy="149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" y="304800"/>
            <a:ext cx="774700" cy="77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14500" y="523240"/>
            <a:ext cx="3423920" cy="334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LIBRARIES USED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0450" y="596900"/>
            <a:ext cx="114300" cy="146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33220" y="1203960"/>
          <a:ext cx="9944100" cy="5074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3760"/>
                <a:gridCol w="3075940"/>
                <a:gridCol w="4724400"/>
              </a:tblGrid>
              <a:tr h="353059"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marL="78740" algn="l">
                        <a:lnSpc>
                          <a:spcPts val="1420"/>
                        </a:lnSpc>
                      </a:pPr>
                      <a:r>
                        <a:rPr spc="-100" sz="2000">
                          <a:solidFill>
                            <a:srgbClr val="1F2C8F"/>
                          </a:solidFill>
                          <a:latin typeface="Roboto Regular"/>
                        </a:rPr>
                        <a:t>LIBRARY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90"/>
                        </a:lnSpc>
                      </a:pPr>
                    </a:p>
                    <a:p>
                      <a:pPr marL="78740" algn="l">
                        <a:lnSpc>
                          <a:spcPts val="1460"/>
                        </a:lnSpc>
                      </a:pPr>
                      <a:r>
                        <a:rPr spc="-100" sz="2000">
                          <a:solidFill>
                            <a:srgbClr val="1F2C8F"/>
                          </a:solidFill>
                          <a:latin typeface="Roboto Regular"/>
                        </a:rPr>
                        <a:t>USED FOR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marL="78740" algn="l">
                        <a:lnSpc>
                          <a:spcPts val="1420"/>
                        </a:lnSpc>
                      </a:pPr>
                      <a:r>
                        <a:rPr spc="-100" sz="2000">
                          <a:solidFill>
                            <a:srgbClr val="1F2C8F"/>
                          </a:solidFill>
                          <a:latin typeface="Roboto Regular"/>
                        </a:rPr>
                        <a:t>EXAMPLE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222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lnSpc>
                          <a:spcPts val="3600"/>
                        </a:lnSpc>
                      </a:pPr>
                    </a:p>
                    <a:p>
                      <a:pPr marL="78740" algn="l">
                        <a:lnSpc>
                          <a:spcPts val="152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Tkinter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</a:p>
                    <a:p>
                      <a:pPr marL="78740" algn="l">
                        <a:lnSpc>
                          <a:spcPts val="192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to create the graphical</a:t>
                      </a:r>
                    </a:p>
                    <a:p>
                      <a:pPr marL="134620" algn="l">
                        <a:lnSpc>
                          <a:spcPts val="1540"/>
                        </a:lnSpc>
                        <a:spcBef>
                          <a:spcPts val="459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user interface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80"/>
                        </a:lnSpc>
                      </a:pPr>
                    </a:p>
                    <a:p>
                      <a:pPr marL="78740" algn="l">
                        <a:lnSpc>
                          <a:spcPts val="144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Buttons</a:t>
                      </a:r>
                    </a:p>
                    <a:p>
                      <a:pPr marL="78740" algn="l">
                        <a:lnSpc>
                          <a:spcPts val="1930"/>
                        </a:lnSpc>
                        <a:spcBef>
                          <a:spcPts val="880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Display screen Layout management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>
                        <a:lnSpc>
                          <a:spcPts val="4650"/>
                        </a:lnSpc>
                      </a:pPr>
                    </a:p>
                    <a:p>
                      <a:pPr marL="78740" algn="l">
                        <a:lnSpc>
                          <a:spcPts val="193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Math Library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</a:p>
                    <a:p>
                      <a:pPr marL="78740" algn="l">
                        <a:lnSpc>
                          <a:spcPts val="234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to perform scientific and</a:t>
                      </a:r>
                    </a:p>
                    <a:p>
                      <a:pPr marL="134620" algn="l">
                        <a:lnSpc>
                          <a:spcPts val="1520"/>
                        </a:lnSpc>
                        <a:spcBef>
                          <a:spcPts val="409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mathematical</a:t>
                      </a:r>
                    </a:p>
                    <a:p>
                      <a:pPr marL="78740" algn="l">
                        <a:lnSpc>
                          <a:spcPts val="1520"/>
                        </a:lnSpc>
                        <a:spcBef>
                          <a:spcPts val="880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calculations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</a:p>
                    <a:p>
                      <a:pPr marL="78740" algn="l">
                        <a:lnSpc>
                          <a:spcPts val="185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Square root</a:t>
                      </a:r>
                    </a:p>
                    <a:p>
                      <a:pPr marL="78740" algn="l">
                        <a:lnSpc>
                          <a:spcPts val="2380"/>
                        </a:lnSpc>
                        <a:spcBef>
                          <a:spcPts val="70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Trigonometric functions (sin, cos, tan)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Logarithmic functions</a:t>
                      </a:r>
                      <a:br/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Factorial operations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</a:tr>
              <a:tr h="1038859">
                <a:tc>
                  <a:txBody>
                    <a:bodyPr/>
                    <a:lstStyle/>
                    <a:p>
                      <a:pPr>
                        <a:lnSpc>
                          <a:spcPts val="3150"/>
                        </a:lnSpc>
                      </a:pPr>
                    </a:p>
                    <a:p>
                      <a:pPr marL="78740" algn="l">
                        <a:lnSpc>
                          <a:spcPts val="193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ttk Library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"/>
                        </a:lnSpc>
                      </a:pPr>
                    </a:p>
                    <a:p>
                      <a:pPr marL="78740" algn="l">
                        <a:lnSpc>
                          <a:spcPts val="240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to improve the </a:t>
                      </a:r>
                      <a:br/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appearance of the</a:t>
                      </a:r>
                    </a:p>
                    <a:p>
                      <a:pPr marL="78740" algn="l">
                        <a:lnSpc>
                          <a:spcPts val="1520"/>
                        </a:lnSpc>
                        <a:spcBef>
                          <a:spcPts val="490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calculator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90"/>
                        </a:lnSpc>
                      </a:pPr>
                    </a:p>
                    <a:p>
                      <a:pPr marL="78740" algn="l">
                        <a:lnSpc>
                          <a:spcPts val="239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Creating modern styled buttons</a:t>
                      </a:r>
                      <a:br/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Providing a better graphical theme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bebeb">
                        <a:alpha val="100000"/>
                      </a:srgbClr>
                    </a:solidFill>
                  </a:tcPr>
                </a:tc>
              </a:tr>
              <a:tr h="1130300">
                <a:tc>
                  <a:txBody>
                    <a:bodyPr/>
                    <a:lstStyle/>
                    <a:p>
                      <a:pPr>
                        <a:lnSpc>
                          <a:spcPts val="3600"/>
                        </a:lnSpc>
                      </a:pPr>
                    </a:p>
                    <a:p>
                      <a:pPr marL="78740" algn="l">
                        <a:lnSpc>
                          <a:spcPts val="152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Scrolled Text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</a:p>
                    <a:p>
                      <a:pPr marL="78740" algn="l">
                        <a:lnSpc>
                          <a:spcPts val="192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to create a history</a:t>
                      </a:r>
                    </a:p>
                    <a:p>
                      <a:pPr marL="78740" algn="l">
                        <a:lnSpc>
                          <a:spcPts val="1520"/>
                        </a:lnSpc>
                        <a:spcBef>
                          <a:spcPts val="480"/>
                        </a:spcBef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section which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</a:p>
                    <a:p>
                      <a:pPr marL="78740" algn="l">
                        <a:lnSpc>
                          <a:spcPts val="2400"/>
                        </a:lnSpc>
                      </a:pPr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Displays previously calculated values</a:t>
                      </a:r>
                      <a:br/>
                      <a:r>
                        <a:rPr spc="-100" sz="2000">
                          <a:solidFill>
                            <a:srgbClr val="0C0C0C"/>
                          </a:solidFill>
                          <a:latin typeface="Noto Serif"/>
                        </a:rPr>
                        <a:t>●</a:t>
                      </a:r>
                      <a:r>
                        <a:rPr spc="-100" sz="2000">
                          <a:solidFill>
                            <a:srgbClr val="0C0C0C"/>
                          </a:solidFill>
                          <a:latin typeface="Roboto Regular"/>
                        </a:rPr>
                        <a:t>Improves usability of the calculator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f5cdce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f5cdce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f5cdce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f5cdce">
                          <a:alpha val="100000"/>
                        </a:srgbClr>
                      </a:solidFill>
                    </a:lnB>
                    <a:solidFill>
                      <a:srgbClr val="fdf5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440" y="3418840"/>
            <a:ext cx="32004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900" y="3644900"/>
            <a:ext cx="3206750" cy="320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440" y="0"/>
            <a:ext cx="32004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900" y="0"/>
            <a:ext cx="320675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87100" y="596900"/>
            <a:ext cx="241300" cy="143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‹#›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760" y="990600"/>
            <a:ext cx="4320540" cy="3327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CHALLENGES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60" y="2296160"/>
            <a:ext cx="5599430" cy="297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Difficulty in implementing scientific functions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760" y="2735580"/>
            <a:ext cx="156591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1F2C8F"/>
                </a:solidFill>
                <a:latin typeface="Noto Serif"/>
              </a:rPr>
              <a:t>●</a:t>
            </a:r>
            <a:r>
              <a:rPr spc="-100" sz="1800">
                <a:solidFill>
                  <a:srgbClr val="1F2C8F"/>
                </a:solidFill>
                <a:latin typeface="Roboto Regular"/>
              </a:rPr>
              <a:t>Second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6640" y="2735580"/>
            <a:ext cx="156718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1F2C8F"/>
                </a:solidFill>
                <a:latin typeface="Noto Serif"/>
              </a:rPr>
              <a:t>●</a:t>
            </a:r>
            <a:r>
              <a:rPr spc="-100" sz="1800">
                <a:solidFill>
                  <a:srgbClr val="1F2C8F"/>
                </a:solidFill>
                <a:latin typeface="Roboto Regular"/>
              </a:rPr>
              <a:t>Second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760" y="3070860"/>
            <a:ext cx="6134099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Managing the display of values dynamically on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760" y="3502660"/>
            <a:ext cx="5895340" cy="243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Handling errors during calculation like invalid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760" y="3928110"/>
            <a:ext cx="599948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Creating a proper layout for all buttons within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7460" y="4236720"/>
            <a:ext cx="135128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Roboto Regular"/>
              </a:rPr>
              <a:t>window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760" y="4662170"/>
            <a:ext cx="566293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Integrating history feature with calculation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467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19100"/>
            <a:ext cx="11296650" cy="601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20450" y="594360"/>
            <a:ext cx="11430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460" y="1609090"/>
            <a:ext cx="5869940" cy="334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OVERCOMING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760" y="2400300"/>
            <a:ext cx="7693660" cy="297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Used Python's math library to perform complex scientific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760" y="2861310"/>
            <a:ext cx="7100570" cy="261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Implemented String Var() to dynamically update display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60" y="3299460"/>
            <a:ext cx="563499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Used try-except block to handle errors effectively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960" y="3641090"/>
            <a:ext cx="1188719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1F2C8F"/>
                </a:solidFill>
                <a:latin typeface="Roboto Regular"/>
              </a:rPr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760" y="3728720"/>
            <a:ext cx="663194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Applied grid layout method for proper button arrangement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100" y="4038600"/>
            <a:ext cx="1148079" cy="176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1F2C8F"/>
                </a:solidFill>
                <a:latin typeface="Noto Serif"/>
              </a:rPr>
              <a:t>●</a:t>
            </a:r>
            <a:r>
              <a:rPr spc="-100" sz="1800">
                <a:solidFill>
                  <a:srgbClr val="1F2C8F"/>
                </a:solidFill>
                <a:latin typeface="Roboto Regular"/>
              </a:rPr>
              <a:t>Fifth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760" y="4160520"/>
            <a:ext cx="6484620" cy="243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000">
                <a:solidFill>
                  <a:srgbClr val="0C0C0C"/>
                </a:solidFill>
                <a:latin typeface="Roboto Regular"/>
              </a:rPr>
              <a:t>Used Scrolled Text widget to maintain calculation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467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19100"/>
            <a:ext cx="11296650" cy="601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3987800"/>
            <a:ext cx="2838450" cy="286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150" y="4864100"/>
            <a:ext cx="1968500" cy="1987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2350" y="5835650"/>
            <a:ext cx="1003300" cy="1016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0450" y="5473700"/>
            <a:ext cx="774700" cy="77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20450" y="594360"/>
            <a:ext cx="114300" cy="147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60" y="904240"/>
            <a:ext cx="5916930" cy="334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WORKING DEMONSTRATION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600200"/>
            <a:ext cx="565785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900" y="0"/>
            <a:ext cx="3206750" cy="3441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550" y="1244600"/>
            <a:ext cx="2203450" cy="218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21300"/>
            <a:ext cx="2127250" cy="1530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8550" y="1244600"/>
            <a:ext cx="2197100" cy="2197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0350" y="6464300"/>
            <a:ext cx="774700" cy="387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7260" y="594360"/>
            <a:ext cx="22733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600">
                <a:solidFill>
                  <a:srgbClr val="1F2C8F"/>
                </a:solidFill>
                <a:latin typeface="Roboto Regular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60" y="1609090"/>
            <a:ext cx="2747010" cy="3340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760" y="2533650"/>
            <a:ext cx="4380230" cy="356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Python Official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760" y="2950210"/>
            <a:ext cx="3929379" cy="231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Tkinter GUI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760" y="3312160"/>
            <a:ext cx="597789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Online programming tutorials and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7460" y="3738879"/>
            <a:ext cx="135128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760" y="4032250"/>
            <a:ext cx="6073140" cy="234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Noto Serif"/>
              </a:rPr>
              <a:t>●</a:t>
            </a:r>
            <a:r>
              <a:rPr spc="-100" sz="2400">
                <a:solidFill>
                  <a:srgbClr val="0C0C0C"/>
                </a:solidFill>
                <a:latin typeface="Roboto Regular"/>
              </a:rPr>
              <a:t>YouTube tutorials for GUI -based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7460" y="4398010"/>
            <a:ext cx="2119629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4715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0" y="0"/>
            <a:ext cx="4667250" cy="685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760" y="2566670"/>
            <a:ext cx="1259840" cy="347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Thank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760" y="3206750"/>
            <a:ext cx="723900" cy="344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3600">
                <a:solidFill>
                  <a:srgbClr val="1F2C8F"/>
                </a:solidFill>
                <a:latin typeface="Roboto Regular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760" y="3873500"/>
            <a:ext cx="3417569" cy="222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BY: MILLEE CHAUDHARY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760" y="4292600"/>
            <a:ext cx="4183379" cy="222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C0C0C"/>
                </a:solidFill>
                <a:latin typeface="Roboto Regular"/>
              </a:rPr>
              <a:t>TO: NEXTHIKES IT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760" y="4702810"/>
            <a:ext cx="3037840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u="sng" sz="2400">
                <a:solidFill>
                  <a:srgbClr val="1F2C8F"/>
                </a:solidFill>
                <a:uFill>
                  <a:solidFill>
                    <a:srgbClr val="1f2c8f">
                      <a:alpha val="100000"/>
                    </a:srgbClr>
                  </a:solidFill>
                </a:uFill>
                <a:latin typeface="Roboto Regular"/>
              </a:rPr>
              <a:t>millee857@gmail.com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760" y="5121910"/>
            <a:ext cx="3219450" cy="295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1F2C8F"/>
                </a:solidFill>
                <a:latin typeface="Roboto Regular"/>
              </a:rPr>
              <a:t>milich1904@gmail.com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